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108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0D57C1E-6F5F-0D7F-5930-35F94C2075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E3A69E3-03F7-1357-FD05-8F25D8369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65270B5-62EB-4D10-D742-AB6300185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A8A0-F9B6-48BD-A776-1DEB2B95A769}" type="datetimeFigureOut">
              <a:rPr lang="pl-PL" smtClean="0"/>
              <a:t>04.11.2025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5D785C0-699E-5F39-44ED-191C0816A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77C75BB-DA18-6E67-8825-4EEFFA02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1D8A-E814-4C79-8AEC-BA3DA3D9D4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612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6DA921B-1555-48A0-14C2-83B5DCDC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B331D8F-61FD-24B9-D428-451F96F84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067D680-294B-26BD-0BF7-D49C69BCA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A8A0-F9B6-48BD-A776-1DEB2B95A769}" type="datetimeFigureOut">
              <a:rPr lang="pl-PL" smtClean="0"/>
              <a:t>04.11.2025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3639EC8-1045-0633-7B0D-2495F5E0F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E50BF8A-3729-5967-DEAB-945C6FD30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1D8A-E814-4C79-8AEC-BA3DA3D9D4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05294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F4F7FD-E4BF-2D94-8BB4-27F67414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5A9712B-1DC4-A93B-7214-22C96E2B2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9ADE7E8-AA33-2E5B-AAF3-FD50ED5E4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A8A0-F9B6-48BD-A776-1DEB2B95A769}" type="datetimeFigureOut">
              <a:rPr lang="pl-PL" smtClean="0"/>
              <a:t>04.11.2025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DDD399C-C1F6-0694-9505-9CB350490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450D39B-7D2C-B235-796E-83035B1E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1D8A-E814-4C79-8AEC-BA3DA3D9D4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0009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B4BCA2-5603-9A71-2FD7-A45017F5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72866FB-BA0A-A453-A1D9-878EBF017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A3DBAF1-D3AF-DBD7-C21C-FD3653DDC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96B8675-2703-BC7B-AF7F-167B7E658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A8A0-F9B6-48BD-A776-1DEB2B95A769}" type="datetimeFigureOut">
              <a:rPr lang="pl-PL" smtClean="0"/>
              <a:t>04.11.2025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50F633D-E461-87C5-9A32-ECA24BCB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D6179F2-85C4-CA22-1CA5-12D5FCFE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1D8A-E814-4C79-8AEC-BA3DA3D9D4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7571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EAC17C-9FA1-332D-E674-A64B2B0A0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8AFB046-9E5D-F62F-E2EC-F0787A164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F2D0FA6-4E73-4293-F362-7C6EFC02E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FCF783C-1ACB-16C7-B4E1-0D05154C3C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2C581082-0AFF-512A-DA4D-6DD8F94CB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BC8A4DB-0D06-91B2-E930-838739BEF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A8A0-F9B6-48BD-A776-1DEB2B95A769}" type="datetimeFigureOut">
              <a:rPr lang="pl-PL" smtClean="0"/>
              <a:t>04.11.2025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5D011DBC-7D03-E296-CAC6-3A02BD20A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BD99196-3389-0B76-B268-90C95BB08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1D8A-E814-4C79-8AEC-BA3DA3D9D4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3584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D61DBD-98DF-18B3-EA5C-BA95B6ADA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AE26E73-4AAE-BCED-2CA8-6A4614AF8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A8A0-F9B6-48BD-A776-1DEB2B95A769}" type="datetimeFigureOut">
              <a:rPr lang="pl-PL" smtClean="0"/>
              <a:t>04.11.2025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04F5BE0B-4799-5E8E-7174-B1C8537E6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2928DB99-54CF-E662-6D77-095527FE9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1D8A-E814-4C79-8AEC-BA3DA3D9D4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7342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9712BB5-CF26-5281-03D0-30C4981B0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A8A0-F9B6-48BD-A776-1DEB2B95A769}" type="datetimeFigureOut">
              <a:rPr lang="pl-PL" smtClean="0"/>
              <a:t>04.11.2025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7AF44CE0-749C-E606-EF8A-B7D014907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CC5C68B-D9C7-7A95-152A-FCF84CCB1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1D8A-E814-4C79-8AEC-BA3DA3D9D4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8594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6900659-F4F0-7EB6-5BE4-3AD7ACC3C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4433BC8-88D6-0BC3-E5E3-308B9327C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9F4034D-850B-E242-120E-6E9D0A682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CADC3B5-5E74-1C4F-3FF0-879E7EAC4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A8A0-F9B6-48BD-A776-1DEB2B95A769}" type="datetimeFigureOut">
              <a:rPr lang="pl-PL" smtClean="0"/>
              <a:t>04.11.2025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2BEA8FD1-E72F-6E0F-061B-B715B8F9F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2E58C8D-0DE5-242F-3CDC-970DA67B5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1D8A-E814-4C79-8AEC-BA3DA3D9D4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58502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FB5545-6DF0-2337-970A-C3C596BC1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06826DF-AAA2-2809-D724-BA6164E437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4144E2A-E7AD-099D-59C8-61548E437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E90FEF1-500F-F0DB-465D-301FEA6F9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A8A0-F9B6-48BD-A776-1DEB2B95A769}" type="datetimeFigureOut">
              <a:rPr lang="pl-PL" smtClean="0"/>
              <a:t>04.11.2025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670779AB-6569-AA70-3E32-D55A6819A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5D00FFE-88DD-0F7D-04BF-29FD6E923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1D8A-E814-4C79-8AEC-BA3DA3D9D4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921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286422-4712-1198-E54A-2A8D03246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57D692F9-D8F1-4AC5-BE73-2E233E71A7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ABE2DB1-B6A5-0367-BC90-190F20465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A8A0-F9B6-48BD-A776-1DEB2B95A769}" type="datetimeFigureOut">
              <a:rPr lang="pl-PL" smtClean="0"/>
              <a:t>04.11.2025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3616C28-8A4A-9540-1ED4-5B4EB08C7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2D7BC79-7CDC-282B-B6E1-9D0D3A242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1D8A-E814-4C79-8AEC-BA3DA3D9D4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3657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A5E59198-AD68-BCAE-55C3-E5978C3090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B6B7C1B6-9DD4-55C6-2150-FB53E0450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7D12A84-72F4-A392-BA17-9E1E44105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FA8A0-F9B6-48BD-A776-1DEB2B95A769}" type="datetimeFigureOut">
              <a:rPr lang="pl-PL" smtClean="0"/>
              <a:t>04.11.2025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A5CF89E-EC91-89DE-7510-A71E371DD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97FA3ED-2770-6B07-DA9C-784AF85C2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1D8A-E814-4C79-8AEC-BA3DA3D9D4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47264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B521C0ED-5B5A-0734-0F6E-2DE2FC50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6F4B5E4-6036-A8C6-C9BC-F95CA34C4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C23542F-0640-9381-BE22-9B73E11A6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FA8A0-F9B6-48BD-A776-1DEB2B95A769}" type="datetimeFigureOut">
              <a:rPr lang="pl-PL" smtClean="0"/>
              <a:t>04.11.2025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90A0A-E70F-0872-E8AA-FB6EBBAF0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3C47743-9D25-B0CF-63E5-F1BE3E799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01D8A-E814-4C79-8AEC-BA3DA3D9D4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08289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C9E7904-F041-F776-C259-C318655068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„Lampka LED sterowana czujnikiem ruchu i natężenia światła (ESP32)”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94A433-90D1-2E27-707F-B6F90B581E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pl-PL" dirty="0"/>
              <a:t>Autor: </a:t>
            </a:r>
            <a:r>
              <a:rPr lang="pl-PL" i="1" dirty="0"/>
              <a:t>Kamil Musioł</a:t>
            </a:r>
            <a:br>
              <a:rPr lang="pl-PL" dirty="0"/>
            </a:br>
            <a:r>
              <a:rPr lang="pl-PL" dirty="0"/>
              <a:t>Przedmiot: </a:t>
            </a:r>
            <a:r>
              <a:rPr lang="pl-PL" i="1" dirty="0"/>
              <a:t>Systemy Mikroprocesorowe i Wbudowane (</a:t>
            </a:r>
            <a:r>
              <a:rPr lang="pl-PL" i="1" dirty="0" err="1"/>
              <a:t>SMiW</a:t>
            </a:r>
            <a:r>
              <a:rPr lang="pl-PL" i="1" dirty="0"/>
              <a:t>)</a:t>
            </a:r>
            <a:br>
              <a:rPr lang="pl-PL" dirty="0"/>
            </a:br>
            <a:r>
              <a:rPr lang="pl-PL" dirty="0"/>
              <a:t>Semestr zimowy 2025/2026</a:t>
            </a:r>
          </a:p>
        </p:txBody>
      </p:sp>
    </p:spTree>
    <p:extLst>
      <p:ext uri="{BB962C8B-B14F-4D97-AF65-F5344CB8AC3E}">
        <p14:creationId xmlns:p14="http://schemas.microsoft.com/office/powerpoint/2010/main" val="3701309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5CD63F-0734-5AB9-99EB-A56D7E1BD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Założenia i cel projektu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23B0B4D-5E30-32BE-3EEE-B366AF799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l-PL" dirty="0"/>
              <a:t>Cel :Zaprojektowanie i implementacja autonomicznej lampki LED reagującej na ruch oraz poziom światła.</a:t>
            </a:r>
          </a:p>
          <a:p>
            <a:pPr marL="0" indent="0">
              <a:buNone/>
            </a:pPr>
            <a:r>
              <a:rPr lang="pl-PL" dirty="0"/>
              <a:t>Założenia funkcjonalne:</a:t>
            </a:r>
          </a:p>
          <a:p>
            <a:pPr marL="0" indent="0">
              <a:buNone/>
            </a:pPr>
            <a:r>
              <a:rPr lang="pl-PL" dirty="0"/>
              <a:t>Automatyczne włączanie po wykryciu ruchu.</a:t>
            </a:r>
          </a:p>
          <a:p>
            <a:pPr marL="0" indent="0">
              <a:buNone/>
            </a:pPr>
            <a:r>
              <a:rPr lang="pl-PL" dirty="0"/>
              <a:t>Pomiar natężenia światła (np. czujnik LDR lub BH1750).</a:t>
            </a:r>
          </a:p>
          <a:p>
            <a:pPr marL="0" indent="0">
              <a:buNone/>
            </a:pPr>
            <a:r>
              <a:rPr lang="pl-PL" dirty="0"/>
              <a:t>Regulacja jasności LED w zależności od poziomu oświetlenia.</a:t>
            </a:r>
          </a:p>
          <a:p>
            <a:pPr marL="0" indent="0">
              <a:buNone/>
            </a:pPr>
            <a:r>
              <a:rPr lang="pl-PL" dirty="0"/>
              <a:t>Wyłączenie po określonym czasie braku ruchu.</a:t>
            </a:r>
          </a:p>
          <a:p>
            <a:pPr marL="0" indent="0">
              <a:buNone/>
            </a:pPr>
            <a:r>
              <a:rPr lang="pl-PL" dirty="0"/>
              <a:t>Możliwość konfiguracji progów jasności i czasu świecenia -dodatkowo</a:t>
            </a:r>
          </a:p>
          <a:p>
            <a:pPr marL="0" indent="0">
              <a:buNone/>
            </a:pPr>
            <a:r>
              <a:rPr lang="pl-PL" dirty="0"/>
              <a:t>Brak reakcji na pomniejsze ruchy - dodatkowo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853317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3CF0-E9CA-094E-C3ED-F143E341B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EF2E59-B8F1-17BD-6AE7-6D7562973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766" y="165629"/>
            <a:ext cx="9144000" cy="2387600"/>
          </a:xfrm>
        </p:spPr>
        <p:txBody>
          <a:bodyPr>
            <a:normAutofit/>
          </a:bodyPr>
          <a:lstStyle/>
          <a:p>
            <a:r>
              <a:rPr lang="pl-PL" dirty="0"/>
              <a:t>„Schemat blokowy systemu”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723F896B-7F8D-A19B-2773-987EABC6F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8166" y="2649010"/>
            <a:ext cx="9144000" cy="1655762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l-PL" b="1" dirty="0"/>
              <a:t>Opis bloków:</a:t>
            </a:r>
            <a:endParaRPr lang="pl-PL" dirty="0"/>
          </a:p>
          <a:p>
            <a:pPr algn="l"/>
            <a:r>
              <a:rPr lang="pl-PL" b="1" dirty="0"/>
              <a:t>Czujnik ruchu (PIR)</a:t>
            </a:r>
            <a:r>
              <a:rPr lang="pl-PL" dirty="0"/>
              <a:t> – wykrywa ruch w otoczeniu.</a:t>
            </a:r>
          </a:p>
          <a:p>
            <a:pPr algn="l"/>
            <a:r>
              <a:rPr lang="pl-PL" b="1" dirty="0"/>
              <a:t>Czujnik światła (BH1750)</a:t>
            </a:r>
            <a:r>
              <a:rPr lang="pl-PL" dirty="0"/>
              <a:t> – mierzy natężenie oświetlenia.</a:t>
            </a:r>
          </a:p>
          <a:p>
            <a:pPr algn="l"/>
            <a:r>
              <a:rPr lang="pl-PL" b="1" dirty="0"/>
              <a:t>Mikrokontroler </a:t>
            </a:r>
            <a:r>
              <a:rPr lang="pl-PL" b="1" dirty="0" err="1"/>
              <a:t>Jolly</a:t>
            </a:r>
            <a:r>
              <a:rPr lang="pl-PL" b="1" dirty="0"/>
              <a:t> </a:t>
            </a:r>
            <a:r>
              <a:rPr lang="pl-PL" b="1" dirty="0" err="1"/>
              <a:t>Dev</a:t>
            </a:r>
            <a:r>
              <a:rPr lang="pl-PL" b="1" dirty="0"/>
              <a:t> - ATmega328PB z </a:t>
            </a:r>
            <a:r>
              <a:rPr lang="pl-PL" b="1" dirty="0" err="1"/>
              <a:t>WiFi</a:t>
            </a:r>
            <a:r>
              <a:rPr lang="pl-PL" b="1" dirty="0"/>
              <a:t> - ESP8285H16</a:t>
            </a:r>
            <a:r>
              <a:rPr lang="pl-PL" dirty="0"/>
              <a:t>– przetwarza dane z czujników i steruje diodami.</a:t>
            </a:r>
          </a:p>
          <a:p>
            <a:pPr algn="l"/>
            <a:r>
              <a:rPr lang="pl-PL" b="1" dirty="0"/>
              <a:t>Moduł LED (PWM)</a:t>
            </a:r>
            <a:r>
              <a:rPr lang="pl-PL" dirty="0"/>
              <a:t> – reguluje jasność lampki.</a:t>
            </a:r>
          </a:p>
          <a:p>
            <a:pPr algn="l"/>
            <a:r>
              <a:rPr lang="pl-PL" b="1" dirty="0"/>
              <a:t>Zasilanie (5V DC)</a:t>
            </a:r>
            <a:r>
              <a:rPr lang="pl-PL" dirty="0"/>
              <a:t> – wspólne źródło zasilania dla całego układu.</a:t>
            </a:r>
          </a:p>
          <a:p>
            <a:pPr algn="l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53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32A20-D09F-0161-4F2E-0A9EEB846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2B3C5B-5E9D-B185-FFA6-8A37FB3AB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8766" y="165629"/>
            <a:ext cx="9144000" cy="1106511"/>
          </a:xfrm>
        </p:spPr>
        <p:txBody>
          <a:bodyPr>
            <a:normAutofit/>
          </a:bodyPr>
          <a:lstStyle/>
          <a:p>
            <a:r>
              <a:rPr lang="pl-PL" dirty="0"/>
              <a:t>„Schemat blokowy systemu”</a:t>
            </a:r>
          </a:p>
        </p:txBody>
      </p:sp>
      <p:grpSp>
        <p:nvGrpSpPr>
          <p:cNvPr id="8" name="Grupa 7">
            <a:extLst>
              <a:ext uri="{FF2B5EF4-FFF2-40B4-BE49-F238E27FC236}">
                <a16:creationId xmlns:a16="http://schemas.microsoft.com/office/drawing/2014/main" id="{42058CDC-CEAA-AABA-07D2-A1C390ACAA1B}"/>
              </a:ext>
            </a:extLst>
          </p:cNvPr>
          <p:cNvGrpSpPr/>
          <p:nvPr/>
        </p:nvGrpSpPr>
        <p:grpSpPr>
          <a:xfrm>
            <a:off x="4400260" y="2746933"/>
            <a:ext cx="2305198" cy="1741518"/>
            <a:chOff x="4400260" y="3587976"/>
            <a:chExt cx="1695740" cy="1281088"/>
          </a:xfrm>
        </p:grpSpPr>
        <p:sp>
          <p:nvSpPr>
            <p:cNvPr id="6" name="Prostokąt 5">
              <a:extLst>
                <a:ext uri="{FF2B5EF4-FFF2-40B4-BE49-F238E27FC236}">
                  <a16:creationId xmlns:a16="http://schemas.microsoft.com/office/drawing/2014/main" id="{50D15CCD-B5AB-BD23-E2D4-462AC1C7D4D6}"/>
                </a:ext>
              </a:extLst>
            </p:cNvPr>
            <p:cNvSpPr/>
            <p:nvPr/>
          </p:nvSpPr>
          <p:spPr>
            <a:xfrm>
              <a:off x="4400260" y="3587976"/>
              <a:ext cx="1695740" cy="12810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7" name="pole tekstowe 6">
              <a:extLst>
                <a:ext uri="{FF2B5EF4-FFF2-40B4-BE49-F238E27FC236}">
                  <a16:creationId xmlns:a16="http://schemas.microsoft.com/office/drawing/2014/main" id="{7165B3F2-9296-7016-3665-2369EE38D404}"/>
                </a:ext>
              </a:extLst>
            </p:cNvPr>
            <p:cNvSpPr txBox="1"/>
            <p:nvPr/>
          </p:nvSpPr>
          <p:spPr>
            <a:xfrm>
              <a:off x="4655211" y="3905354"/>
              <a:ext cx="11858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dirty="0"/>
                <a:t>Jednostka</a:t>
              </a:r>
            </a:p>
            <a:p>
              <a:r>
                <a:rPr lang="pl-PL" dirty="0"/>
                <a:t>Centralna</a:t>
              </a:r>
            </a:p>
          </p:txBody>
        </p:sp>
      </p:grpSp>
      <p:grpSp>
        <p:nvGrpSpPr>
          <p:cNvPr id="10" name="Grupa 9">
            <a:extLst>
              <a:ext uri="{FF2B5EF4-FFF2-40B4-BE49-F238E27FC236}">
                <a16:creationId xmlns:a16="http://schemas.microsoft.com/office/drawing/2014/main" id="{475720B8-D3F9-F83B-8BB2-4AFB1F055C73}"/>
              </a:ext>
            </a:extLst>
          </p:cNvPr>
          <p:cNvGrpSpPr/>
          <p:nvPr/>
        </p:nvGrpSpPr>
        <p:grpSpPr>
          <a:xfrm>
            <a:off x="1742760" y="1507239"/>
            <a:ext cx="1695740" cy="1281088"/>
            <a:chOff x="4400259" y="3230056"/>
            <a:chExt cx="1695740" cy="1281088"/>
          </a:xfrm>
        </p:grpSpPr>
        <p:sp>
          <p:nvSpPr>
            <p:cNvPr id="11" name="Prostokąt 10">
              <a:extLst>
                <a:ext uri="{FF2B5EF4-FFF2-40B4-BE49-F238E27FC236}">
                  <a16:creationId xmlns:a16="http://schemas.microsoft.com/office/drawing/2014/main" id="{A9756DCF-4A6C-39FC-9D6B-EC16CF98D2EF}"/>
                </a:ext>
              </a:extLst>
            </p:cNvPr>
            <p:cNvSpPr/>
            <p:nvPr/>
          </p:nvSpPr>
          <p:spPr>
            <a:xfrm>
              <a:off x="4400259" y="3230056"/>
              <a:ext cx="1695740" cy="12810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2" name="pole tekstowe 11">
              <a:extLst>
                <a:ext uri="{FF2B5EF4-FFF2-40B4-BE49-F238E27FC236}">
                  <a16:creationId xmlns:a16="http://schemas.microsoft.com/office/drawing/2014/main" id="{D60915E0-57CB-A157-FE6E-0FF142F7A358}"/>
                </a:ext>
              </a:extLst>
            </p:cNvPr>
            <p:cNvSpPr txBox="1"/>
            <p:nvPr/>
          </p:nvSpPr>
          <p:spPr>
            <a:xfrm>
              <a:off x="4525976" y="3614826"/>
              <a:ext cx="14443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dirty="0"/>
                <a:t>Zasilanie DC</a:t>
              </a:r>
            </a:p>
          </p:txBody>
        </p:sp>
      </p:grpSp>
      <p:grpSp>
        <p:nvGrpSpPr>
          <p:cNvPr id="13" name="Grupa 12">
            <a:extLst>
              <a:ext uri="{FF2B5EF4-FFF2-40B4-BE49-F238E27FC236}">
                <a16:creationId xmlns:a16="http://schemas.microsoft.com/office/drawing/2014/main" id="{0A4C8916-1A0B-E985-BDCA-E14278C2406A}"/>
              </a:ext>
            </a:extLst>
          </p:cNvPr>
          <p:cNvGrpSpPr/>
          <p:nvPr/>
        </p:nvGrpSpPr>
        <p:grpSpPr>
          <a:xfrm>
            <a:off x="1742760" y="3070099"/>
            <a:ext cx="1695740" cy="1281088"/>
            <a:chOff x="4400260" y="3587976"/>
            <a:chExt cx="1695740" cy="1281088"/>
          </a:xfrm>
        </p:grpSpPr>
        <p:sp>
          <p:nvSpPr>
            <p:cNvPr id="14" name="Prostokąt 13">
              <a:extLst>
                <a:ext uri="{FF2B5EF4-FFF2-40B4-BE49-F238E27FC236}">
                  <a16:creationId xmlns:a16="http://schemas.microsoft.com/office/drawing/2014/main" id="{F99653AE-73CC-6C65-1904-8CFC4BD59829}"/>
                </a:ext>
              </a:extLst>
            </p:cNvPr>
            <p:cNvSpPr/>
            <p:nvPr/>
          </p:nvSpPr>
          <p:spPr>
            <a:xfrm>
              <a:off x="4400260" y="3587976"/>
              <a:ext cx="1695740" cy="12810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5" name="pole tekstowe 14">
              <a:extLst>
                <a:ext uri="{FF2B5EF4-FFF2-40B4-BE49-F238E27FC236}">
                  <a16:creationId xmlns:a16="http://schemas.microsoft.com/office/drawing/2014/main" id="{D1FF3D3C-663F-D174-5442-0B47F77ADE9C}"/>
                </a:ext>
              </a:extLst>
            </p:cNvPr>
            <p:cNvSpPr txBox="1"/>
            <p:nvPr/>
          </p:nvSpPr>
          <p:spPr>
            <a:xfrm>
              <a:off x="4655211" y="3905354"/>
              <a:ext cx="96853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dirty="0"/>
                <a:t>Czujnik </a:t>
              </a:r>
            </a:p>
            <a:p>
              <a:r>
                <a:rPr lang="pl-PL" dirty="0"/>
                <a:t>ruchu</a:t>
              </a:r>
            </a:p>
          </p:txBody>
        </p:sp>
      </p:grpSp>
      <p:grpSp>
        <p:nvGrpSpPr>
          <p:cNvPr id="16" name="Grupa 15">
            <a:extLst>
              <a:ext uri="{FF2B5EF4-FFF2-40B4-BE49-F238E27FC236}">
                <a16:creationId xmlns:a16="http://schemas.microsoft.com/office/drawing/2014/main" id="{FF7D8D5E-A3F8-C5B6-1103-1BEE31A5866B}"/>
              </a:ext>
            </a:extLst>
          </p:cNvPr>
          <p:cNvGrpSpPr/>
          <p:nvPr/>
        </p:nvGrpSpPr>
        <p:grpSpPr>
          <a:xfrm>
            <a:off x="1742760" y="4914734"/>
            <a:ext cx="1695740" cy="1281088"/>
            <a:chOff x="4400260" y="3587976"/>
            <a:chExt cx="1695740" cy="1281088"/>
          </a:xfrm>
        </p:grpSpPr>
        <p:sp>
          <p:nvSpPr>
            <p:cNvPr id="17" name="Prostokąt 16">
              <a:extLst>
                <a:ext uri="{FF2B5EF4-FFF2-40B4-BE49-F238E27FC236}">
                  <a16:creationId xmlns:a16="http://schemas.microsoft.com/office/drawing/2014/main" id="{3287FBBC-5B89-0F67-A1DB-9153511BB29A}"/>
                </a:ext>
              </a:extLst>
            </p:cNvPr>
            <p:cNvSpPr/>
            <p:nvPr/>
          </p:nvSpPr>
          <p:spPr>
            <a:xfrm>
              <a:off x="4400260" y="3587976"/>
              <a:ext cx="1695740" cy="12810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sp>
          <p:nvSpPr>
            <p:cNvPr id="18" name="pole tekstowe 17">
              <a:extLst>
                <a:ext uri="{FF2B5EF4-FFF2-40B4-BE49-F238E27FC236}">
                  <a16:creationId xmlns:a16="http://schemas.microsoft.com/office/drawing/2014/main" id="{83301A32-098A-A3A3-1083-85E8DF50A387}"/>
                </a:ext>
              </a:extLst>
            </p:cNvPr>
            <p:cNvSpPr txBox="1"/>
            <p:nvPr/>
          </p:nvSpPr>
          <p:spPr>
            <a:xfrm>
              <a:off x="4655211" y="3905354"/>
              <a:ext cx="96853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dirty="0"/>
                <a:t>Czujnik </a:t>
              </a:r>
            </a:p>
            <a:p>
              <a:r>
                <a:rPr lang="pl-PL" dirty="0"/>
                <a:t>Światła</a:t>
              </a:r>
            </a:p>
          </p:txBody>
        </p:sp>
      </p:grpSp>
      <p:grpSp>
        <p:nvGrpSpPr>
          <p:cNvPr id="19" name="Grupa 18">
            <a:extLst>
              <a:ext uri="{FF2B5EF4-FFF2-40B4-BE49-F238E27FC236}">
                <a16:creationId xmlns:a16="http://schemas.microsoft.com/office/drawing/2014/main" id="{96D7B4DB-E91B-BE01-C869-1FE760A30AF0}"/>
              </a:ext>
            </a:extLst>
          </p:cNvPr>
          <p:cNvGrpSpPr/>
          <p:nvPr/>
        </p:nvGrpSpPr>
        <p:grpSpPr>
          <a:xfrm>
            <a:off x="4704988" y="4972928"/>
            <a:ext cx="1695740" cy="1281088"/>
            <a:chOff x="4400260" y="3587976"/>
            <a:chExt cx="1695740" cy="1281088"/>
          </a:xfrm>
        </p:grpSpPr>
        <p:sp>
          <p:nvSpPr>
            <p:cNvPr id="20" name="Prostokąt 19">
              <a:extLst>
                <a:ext uri="{FF2B5EF4-FFF2-40B4-BE49-F238E27FC236}">
                  <a16:creationId xmlns:a16="http://schemas.microsoft.com/office/drawing/2014/main" id="{33CFFBAD-DB6D-6668-93F4-148B5D369CCF}"/>
                </a:ext>
              </a:extLst>
            </p:cNvPr>
            <p:cNvSpPr/>
            <p:nvPr/>
          </p:nvSpPr>
          <p:spPr>
            <a:xfrm>
              <a:off x="4400260" y="3587976"/>
              <a:ext cx="1695740" cy="12810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21" name="pole tekstowe 20">
              <a:extLst>
                <a:ext uri="{FF2B5EF4-FFF2-40B4-BE49-F238E27FC236}">
                  <a16:creationId xmlns:a16="http://schemas.microsoft.com/office/drawing/2014/main" id="{EF048F38-F4F0-1965-8E18-7A5A16198DAD}"/>
                </a:ext>
              </a:extLst>
            </p:cNvPr>
            <p:cNvSpPr txBox="1"/>
            <p:nvPr/>
          </p:nvSpPr>
          <p:spPr>
            <a:xfrm>
              <a:off x="4655211" y="3905354"/>
              <a:ext cx="140544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dirty="0"/>
                <a:t>Interfejs</a:t>
              </a:r>
            </a:p>
            <a:p>
              <a:r>
                <a:rPr lang="pl-PL" dirty="0"/>
                <a:t>użytkownika</a:t>
              </a:r>
            </a:p>
          </p:txBody>
        </p:sp>
      </p:grpSp>
      <p:grpSp>
        <p:nvGrpSpPr>
          <p:cNvPr id="22" name="Grupa 21">
            <a:extLst>
              <a:ext uri="{FF2B5EF4-FFF2-40B4-BE49-F238E27FC236}">
                <a16:creationId xmlns:a16="http://schemas.microsoft.com/office/drawing/2014/main" id="{D8597265-5F13-E69B-7524-8801B4F9A4A7}"/>
              </a:ext>
            </a:extLst>
          </p:cNvPr>
          <p:cNvGrpSpPr/>
          <p:nvPr/>
        </p:nvGrpSpPr>
        <p:grpSpPr>
          <a:xfrm>
            <a:off x="8055467" y="3207363"/>
            <a:ext cx="1695740" cy="1281088"/>
            <a:chOff x="4400260" y="3587976"/>
            <a:chExt cx="1695740" cy="1281088"/>
          </a:xfrm>
        </p:grpSpPr>
        <p:sp>
          <p:nvSpPr>
            <p:cNvPr id="23" name="Prostokąt 22">
              <a:extLst>
                <a:ext uri="{FF2B5EF4-FFF2-40B4-BE49-F238E27FC236}">
                  <a16:creationId xmlns:a16="http://schemas.microsoft.com/office/drawing/2014/main" id="{221F08FF-4F5D-CC5F-0A31-1ADBBC616BEE}"/>
                </a:ext>
              </a:extLst>
            </p:cNvPr>
            <p:cNvSpPr/>
            <p:nvPr/>
          </p:nvSpPr>
          <p:spPr>
            <a:xfrm>
              <a:off x="4400260" y="3587976"/>
              <a:ext cx="1695740" cy="12810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24" name="pole tekstowe 23">
              <a:extLst>
                <a:ext uri="{FF2B5EF4-FFF2-40B4-BE49-F238E27FC236}">
                  <a16:creationId xmlns:a16="http://schemas.microsoft.com/office/drawing/2014/main" id="{22612FAF-6F47-B5A8-CE39-EBD3163971D8}"/>
                </a:ext>
              </a:extLst>
            </p:cNvPr>
            <p:cNvSpPr txBox="1"/>
            <p:nvPr/>
          </p:nvSpPr>
          <p:spPr>
            <a:xfrm>
              <a:off x="4655211" y="3905354"/>
              <a:ext cx="116878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dirty="0"/>
                <a:t>Sterownik</a:t>
              </a:r>
            </a:p>
            <a:p>
              <a:r>
                <a:rPr lang="pl-PL" dirty="0"/>
                <a:t>Led</a:t>
              </a:r>
            </a:p>
          </p:txBody>
        </p:sp>
      </p:grpSp>
      <p:grpSp>
        <p:nvGrpSpPr>
          <p:cNvPr id="25" name="Grupa 24">
            <a:extLst>
              <a:ext uri="{FF2B5EF4-FFF2-40B4-BE49-F238E27FC236}">
                <a16:creationId xmlns:a16="http://schemas.microsoft.com/office/drawing/2014/main" id="{F29ACD6F-80D4-13E9-27E6-27815C629127}"/>
              </a:ext>
            </a:extLst>
          </p:cNvPr>
          <p:cNvGrpSpPr/>
          <p:nvPr/>
        </p:nvGrpSpPr>
        <p:grpSpPr>
          <a:xfrm>
            <a:off x="8055467" y="1530575"/>
            <a:ext cx="1695740" cy="1281088"/>
            <a:chOff x="4400260" y="3587976"/>
            <a:chExt cx="1695740" cy="1281088"/>
          </a:xfrm>
        </p:grpSpPr>
        <p:sp>
          <p:nvSpPr>
            <p:cNvPr id="26" name="Prostokąt 25">
              <a:extLst>
                <a:ext uri="{FF2B5EF4-FFF2-40B4-BE49-F238E27FC236}">
                  <a16:creationId xmlns:a16="http://schemas.microsoft.com/office/drawing/2014/main" id="{95A9DDF7-1D76-6377-79F4-4FCEBDBCAE0D}"/>
                </a:ext>
              </a:extLst>
            </p:cNvPr>
            <p:cNvSpPr/>
            <p:nvPr/>
          </p:nvSpPr>
          <p:spPr>
            <a:xfrm>
              <a:off x="4400260" y="3587976"/>
              <a:ext cx="1695740" cy="128108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/>
            </a:p>
          </p:txBody>
        </p:sp>
        <p:sp>
          <p:nvSpPr>
            <p:cNvPr id="27" name="pole tekstowe 26">
              <a:extLst>
                <a:ext uri="{FF2B5EF4-FFF2-40B4-BE49-F238E27FC236}">
                  <a16:creationId xmlns:a16="http://schemas.microsoft.com/office/drawing/2014/main" id="{5876B037-830C-2EAA-3DAB-D45A3C0A2E5E}"/>
                </a:ext>
              </a:extLst>
            </p:cNvPr>
            <p:cNvSpPr txBox="1"/>
            <p:nvPr/>
          </p:nvSpPr>
          <p:spPr>
            <a:xfrm>
              <a:off x="4655211" y="3905354"/>
              <a:ext cx="81144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l-PL" dirty="0"/>
                <a:t>Moduł</a:t>
              </a:r>
            </a:p>
            <a:p>
              <a:r>
                <a:rPr lang="pl-PL" dirty="0" err="1"/>
                <a:t>led</a:t>
              </a:r>
              <a:endParaRPr lang="pl-PL" dirty="0"/>
            </a:p>
          </p:txBody>
        </p:sp>
      </p:grp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ADAC5BEC-A932-55B2-CFD4-8BBF1CA6C264}"/>
              </a:ext>
            </a:extLst>
          </p:cNvPr>
          <p:cNvCxnSpPr/>
          <p:nvPr/>
        </p:nvCxnSpPr>
        <p:spPr>
          <a:xfrm>
            <a:off x="3504426" y="2529685"/>
            <a:ext cx="812285" cy="812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3104B460-1E80-A17F-7D0B-0CAD760089B3}"/>
              </a:ext>
            </a:extLst>
          </p:cNvPr>
          <p:cNvCxnSpPr/>
          <p:nvPr/>
        </p:nvCxnSpPr>
        <p:spPr>
          <a:xfrm>
            <a:off x="3504426" y="3710642"/>
            <a:ext cx="81228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Łącznik prosty ze strzałką 32">
            <a:extLst>
              <a:ext uri="{FF2B5EF4-FFF2-40B4-BE49-F238E27FC236}">
                <a16:creationId xmlns:a16="http://schemas.microsoft.com/office/drawing/2014/main" id="{88800272-D391-8211-0B34-695CDB90A25F}"/>
              </a:ext>
            </a:extLst>
          </p:cNvPr>
          <p:cNvCxnSpPr/>
          <p:nvPr/>
        </p:nvCxnSpPr>
        <p:spPr>
          <a:xfrm flipV="1">
            <a:off x="3564768" y="4599850"/>
            <a:ext cx="690456" cy="6904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Łącznik prosty ze strzałką 34">
            <a:extLst>
              <a:ext uri="{FF2B5EF4-FFF2-40B4-BE49-F238E27FC236}">
                <a16:creationId xmlns:a16="http://schemas.microsoft.com/office/drawing/2014/main" id="{496098DC-16C1-1DE5-5D74-76A3EBB7C42F}"/>
              </a:ext>
            </a:extLst>
          </p:cNvPr>
          <p:cNvCxnSpPr>
            <a:stCxn id="20" idx="0"/>
          </p:cNvCxnSpPr>
          <p:nvPr/>
        </p:nvCxnSpPr>
        <p:spPr>
          <a:xfrm flipV="1">
            <a:off x="5552858" y="4553434"/>
            <a:ext cx="0" cy="4194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Łącznik prosty ze strzałką 36">
            <a:extLst>
              <a:ext uri="{FF2B5EF4-FFF2-40B4-BE49-F238E27FC236}">
                <a16:creationId xmlns:a16="http://schemas.microsoft.com/office/drawing/2014/main" id="{FF5C2A6D-E1FD-8B5A-E301-BED40CCFBD0F}"/>
              </a:ext>
            </a:extLst>
          </p:cNvPr>
          <p:cNvCxnSpPr/>
          <p:nvPr/>
        </p:nvCxnSpPr>
        <p:spPr>
          <a:xfrm>
            <a:off x="6818546" y="3617691"/>
            <a:ext cx="109078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834D0ACA-45AB-8AA4-A577-3206C1340283}"/>
              </a:ext>
            </a:extLst>
          </p:cNvPr>
          <p:cNvCxnSpPr>
            <a:endCxn id="26" idx="2"/>
          </p:cNvCxnSpPr>
          <p:nvPr/>
        </p:nvCxnSpPr>
        <p:spPr>
          <a:xfrm flipV="1">
            <a:off x="8894808" y="2811663"/>
            <a:ext cx="8529" cy="3028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21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4D000-1ECE-5EDB-91A4-0206A1BF4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335740F-A7BA-9D9A-C224-C7672F1E1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2326" y="0"/>
            <a:ext cx="9144000" cy="1062932"/>
          </a:xfrm>
        </p:spPr>
        <p:txBody>
          <a:bodyPr>
            <a:normAutofit/>
          </a:bodyPr>
          <a:lstStyle/>
          <a:p>
            <a:r>
              <a:rPr lang="pl-PL" dirty="0"/>
              <a:t>Lista komponentów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0592EDBD-AFD3-138A-4629-DF88F6BBC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1124535"/>
              </p:ext>
            </p:extLst>
          </p:nvPr>
        </p:nvGraphicFramePr>
        <p:xfrm>
          <a:off x="1770458" y="840211"/>
          <a:ext cx="8127999" cy="594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4085493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49685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193897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pl-PL" dirty="0"/>
                        <a:t>Komponenty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Funkcja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Uwagi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901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Płytka </a:t>
                      </a:r>
                      <a:r>
                        <a:rPr lang="pl-PL" dirty="0" err="1"/>
                        <a:t>Jolly</a:t>
                      </a:r>
                      <a:r>
                        <a:rPr lang="pl-PL" dirty="0"/>
                        <a:t> </a:t>
                      </a:r>
                      <a:r>
                        <a:rPr lang="pl-PL" dirty="0" err="1"/>
                        <a:t>Dev</a:t>
                      </a:r>
                      <a:r>
                        <a:rPr lang="pl-PL" dirty="0"/>
                        <a:t> (ATmega328PB + ESP8285)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Jednostka centralna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Kompatybilna z </a:t>
                      </a:r>
                      <a:r>
                        <a:rPr lang="pl-PL" dirty="0" err="1"/>
                        <a:t>Arduino</a:t>
                      </a:r>
                      <a:r>
                        <a:rPr lang="pl-PL" dirty="0"/>
                        <a:t> UNO; ESP8285 zapewnia możliwość komunikacji Wi-Fi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68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Czujnik ruchu PIR (HC-SR501)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Wykrywa obecność człowieka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2411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Czujnik światła BH1750 + dzielnik rezystorowy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Mierzy natężenie światła otoczenia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511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Dioda / moduł LED (np. 5 V, 1 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Źródło światła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Sterowana sygnałem PWM przez tranzystor MOSFET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2408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Tranzystor MOSFET (np. IRLZ44N)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Wzmacniacz prądowy LED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Regulacja jasności bez przeciążania mikrokontrolera</a:t>
                      </a:r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990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Rezystory i potencjometr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/>
                        <a:t>Ustawienie progu dla LDR, ograniczenie prądu LED</a:t>
                      </a:r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Dzielnik napięcia i kalibracja progu światła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112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Zasilacz 5 V 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zasilanie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Np. zasilacz sieciowy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152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544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B9AABCD-0D2F-A458-C191-01DE156D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Środowisko programistyczne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F83E9B0-4421-B3EF-1233-B7BC9D397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Planowane środowisko:</a:t>
            </a:r>
          </a:p>
          <a:p>
            <a:pPr marL="0" indent="0">
              <a:buNone/>
            </a:pPr>
            <a:r>
              <a:rPr lang="pl-PL" b="1" dirty="0"/>
              <a:t>	Platforma sprzętowa:</a:t>
            </a:r>
            <a:r>
              <a:rPr lang="pl-PL" dirty="0"/>
              <a:t> </a:t>
            </a:r>
            <a:r>
              <a:rPr lang="pl-PL" dirty="0" err="1"/>
              <a:t>Arduino</a:t>
            </a:r>
            <a:r>
              <a:rPr lang="pl-PL" dirty="0"/>
              <a:t> UNO </a:t>
            </a:r>
          </a:p>
          <a:p>
            <a:pPr marL="0" indent="0">
              <a:buNone/>
            </a:pPr>
            <a:r>
              <a:rPr lang="pl-PL" b="1" dirty="0"/>
              <a:t>	IDE:</a:t>
            </a:r>
            <a:r>
              <a:rPr lang="pl-PL" dirty="0"/>
              <a:t> </a:t>
            </a:r>
            <a:r>
              <a:rPr lang="pl-PL" dirty="0" err="1"/>
              <a:t>Arduino</a:t>
            </a:r>
            <a:r>
              <a:rPr lang="pl-PL" dirty="0"/>
              <a:t> IDE</a:t>
            </a:r>
          </a:p>
          <a:p>
            <a:pPr marL="0" indent="0">
              <a:buNone/>
            </a:pPr>
            <a:r>
              <a:rPr lang="pl-PL" b="1" dirty="0"/>
              <a:t>	Język programowania:</a:t>
            </a:r>
            <a:r>
              <a:rPr lang="pl-PL" dirty="0"/>
              <a:t> C / C++ (</a:t>
            </a:r>
            <a:r>
              <a:rPr lang="pl-PL" dirty="0" err="1"/>
              <a:t>Arduino</a:t>
            </a:r>
            <a:r>
              <a:rPr lang="pl-PL" dirty="0"/>
              <a:t>)</a:t>
            </a:r>
          </a:p>
          <a:p>
            <a:pPr marL="0" indent="0">
              <a:buNone/>
            </a:pPr>
            <a:r>
              <a:rPr lang="pl-PL" dirty="0"/>
              <a:t>Biblioteki przykładowe:</a:t>
            </a:r>
          </a:p>
          <a:p>
            <a:pPr marL="0" indent="0">
              <a:buNone/>
            </a:pPr>
            <a:r>
              <a:rPr lang="pl-PL" dirty="0"/>
              <a:t>	</a:t>
            </a:r>
            <a:r>
              <a:rPr lang="pl-PL" dirty="0" err="1"/>
              <a:t>Wire.h</a:t>
            </a:r>
            <a:r>
              <a:rPr lang="pl-PL" dirty="0"/>
              <a:t> – komunikacja z czujnikiem światła (jeśli BH1750)</a:t>
            </a:r>
          </a:p>
          <a:p>
            <a:pPr marL="0" indent="0">
              <a:buNone/>
            </a:pPr>
            <a:r>
              <a:rPr lang="pl-PL" dirty="0"/>
              <a:t>	</a:t>
            </a:r>
            <a:r>
              <a:rPr lang="pl-PL" dirty="0" err="1"/>
              <a:t>Servo.h</a:t>
            </a:r>
            <a:r>
              <a:rPr lang="pl-PL" dirty="0"/>
              <a:t> / </a:t>
            </a:r>
            <a:r>
              <a:rPr lang="pl-PL" dirty="0" err="1"/>
              <a:t>analogWrite</a:t>
            </a:r>
            <a:r>
              <a:rPr lang="pl-PL" dirty="0"/>
              <a:t>() – do sterowania jasnością LED</a:t>
            </a:r>
          </a:p>
        </p:txBody>
      </p:sp>
    </p:spTree>
    <p:extLst>
      <p:ext uri="{BB962C8B-B14F-4D97-AF65-F5344CB8AC3E}">
        <p14:creationId xmlns:p14="http://schemas.microsoft.com/office/powerpoint/2010/main" val="1870525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13EB6-ADFB-5BDC-C2F3-E3E6DDA7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5DA709-3AA6-639F-A4AA-AA41C51BA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4817" y="298948"/>
            <a:ext cx="9144000" cy="2387600"/>
          </a:xfrm>
        </p:spPr>
        <p:txBody>
          <a:bodyPr>
            <a:normAutofit/>
          </a:bodyPr>
          <a:lstStyle/>
          <a:p>
            <a:r>
              <a:rPr lang="pl-PL" dirty="0"/>
              <a:t>Działanie i plan implementacji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8DB35A2-844E-C625-D34A-DDCD00DCA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l-PL" b="1" dirty="0"/>
              <a:t>Etapy pracy:</a:t>
            </a:r>
          </a:p>
          <a:p>
            <a:r>
              <a:rPr lang="pl-PL" dirty="0"/>
              <a:t>Połączenie czujników z jednostką centralną i test odczytu danych.</a:t>
            </a:r>
          </a:p>
          <a:p>
            <a:r>
              <a:rPr lang="pl-PL" dirty="0"/>
              <a:t>Implementacja prostej logiki: „jeśli ciemno i wykryto ruch → włącz LED”.</a:t>
            </a:r>
          </a:p>
          <a:p>
            <a:r>
              <a:rPr lang="pl-PL" dirty="0"/>
              <a:t>Dodanie płynnej regulacji jasności (PWM).</a:t>
            </a:r>
          </a:p>
          <a:p>
            <a:r>
              <a:rPr lang="pl-PL" dirty="0"/>
              <a:t>Kalibracja progów jasności i czasu świecenia.</a:t>
            </a:r>
          </a:p>
          <a:p>
            <a:r>
              <a:rPr lang="pl-PL" dirty="0"/>
              <a:t>Opcjonalne – sprawdzanie wielkości</a:t>
            </a:r>
          </a:p>
          <a:p>
            <a:pPr algn="l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53946170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401</Words>
  <Application>Microsoft Office PowerPoint</Application>
  <PresentationFormat>Panoramiczny</PresentationFormat>
  <Paragraphs>70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Motyw pakietu Office</vt:lpstr>
      <vt:lpstr>„Lampka LED sterowana czujnikiem ruchu i natężenia światła (ESP32)”</vt:lpstr>
      <vt:lpstr>Założenia i cel projektu</vt:lpstr>
      <vt:lpstr>„Schemat blokowy systemu”</vt:lpstr>
      <vt:lpstr>„Schemat blokowy systemu”</vt:lpstr>
      <vt:lpstr>Lista komponentów</vt:lpstr>
      <vt:lpstr>Środowisko programistyczne</vt:lpstr>
      <vt:lpstr>Działanie i plan implementacji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Musioł (km312380)</dc:creator>
  <cp:lastModifiedBy>Kamil Musioł (km312380)</cp:lastModifiedBy>
  <cp:revision>4</cp:revision>
  <dcterms:created xsi:type="dcterms:W3CDTF">2025-11-03T22:41:29Z</dcterms:created>
  <dcterms:modified xsi:type="dcterms:W3CDTF">2025-11-04T15:23:32Z</dcterms:modified>
</cp:coreProperties>
</file>