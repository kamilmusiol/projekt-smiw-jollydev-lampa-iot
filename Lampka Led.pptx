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4" d="100"/>
          <a:sy n="84" d="100"/>
        </p:scale>
        <p:origin x="4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BCE6B5-B8BE-412A-8081-78EE836E7F5D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A168C4C-7DE0-475A-9986-B1D4FECC0319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pl-PL" b="1"/>
            <a:t>I2C (Inter-Integrated Circuit): </a:t>
          </a:r>
          <a:endParaRPr lang="en-US"/>
        </a:p>
      </dgm:t>
    </dgm:pt>
    <dgm:pt modelId="{A52EAF30-50AB-4CEA-9B08-F3E9BCB4912C}" type="parTrans" cxnId="{01E87430-ECF1-466C-A370-00E200DBB1AE}">
      <dgm:prSet/>
      <dgm:spPr/>
      <dgm:t>
        <a:bodyPr/>
        <a:lstStyle/>
        <a:p>
          <a:endParaRPr lang="en-US"/>
        </a:p>
      </dgm:t>
    </dgm:pt>
    <dgm:pt modelId="{B57D0F87-B304-4B2A-AE35-59A3ED34D433}" type="sibTrans" cxnId="{01E87430-ECF1-466C-A370-00E200DBB1AE}">
      <dgm:prSet/>
      <dgm:spPr/>
      <dgm:t>
        <a:bodyPr/>
        <a:lstStyle/>
        <a:p>
          <a:endParaRPr lang="en-US"/>
        </a:p>
      </dgm:t>
    </dgm:pt>
    <dgm:pt modelId="{B381FBEA-B7E6-4AF7-8666-5BB7F590E5B8}">
      <dgm:prSet/>
      <dgm:spPr/>
      <dgm:t>
        <a:bodyPr/>
        <a:lstStyle/>
        <a:p>
          <a:r>
            <a:rPr lang="pl-PL" dirty="0"/>
            <a:t>Protokół komunikacji cyfrowej, dzięki któremu </a:t>
          </a:r>
          <a:r>
            <a:rPr lang="pl-PL" dirty="0" err="1"/>
            <a:t>Arduino</a:t>
          </a:r>
          <a:r>
            <a:rPr lang="pl-PL" dirty="0"/>
            <a:t> "rozmawia" z czujnikiem światła za pomocą tylko dwóch kabli.</a:t>
          </a:r>
          <a:endParaRPr lang="en-US" dirty="0"/>
        </a:p>
      </dgm:t>
    </dgm:pt>
    <dgm:pt modelId="{B9CD6DFA-CCFE-4B25-B9F5-115FCC42D567}" type="parTrans" cxnId="{9DD7EE27-F1BB-41EE-980E-3E919A095596}">
      <dgm:prSet/>
      <dgm:spPr/>
      <dgm:t>
        <a:bodyPr/>
        <a:lstStyle/>
        <a:p>
          <a:endParaRPr lang="en-US"/>
        </a:p>
      </dgm:t>
    </dgm:pt>
    <dgm:pt modelId="{91632DCE-FE5E-4904-BB89-FC925F0EDD56}" type="sibTrans" cxnId="{9DD7EE27-F1BB-41EE-980E-3E919A095596}">
      <dgm:prSet/>
      <dgm:spPr/>
      <dgm:t>
        <a:bodyPr/>
        <a:lstStyle/>
        <a:p>
          <a:endParaRPr lang="en-US"/>
        </a:p>
      </dgm:t>
    </dgm:pt>
    <dgm:pt modelId="{5E0D756F-413D-4582-9B59-F4BD2BFAB995}">
      <dgm:prSet/>
      <dgm:spPr/>
      <dgm:t>
        <a:bodyPr/>
        <a:lstStyle/>
        <a:p>
          <a:r>
            <a:rPr lang="pl-PL" b="1"/>
            <a:t>PWM (Pulse Width Modulation):</a:t>
          </a:r>
          <a:r>
            <a:rPr lang="pl-PL"/>
            <a:t> </a:t>
          </a:r>
          <a:endParaRPr lang="en-US"/>
        </a:p>
      </dgm:t>
    </dgm:pt>
    <dgm:pt modelId="{D96C5083-F0E9-47D7-8DBC-C0CEBE69E4D4}" type="parTrans" cxnId="{5D679368-8DAF-4109-A593-0951324FBCDA}">
      <dgm:prSet/>
      <dgm:spPr/>
      <dgm:t>
        <a:bodyPr/>
        <a:lstStyle/>
        <a:p>
          <a:endParaRPr lang="en-US"/>
        </a:p>
      </dgm:t>
    </dgm:pt>
    <dgm:pt modelId="{B5D4CC8D-DACF-430D-8254-3724AAA7FC6B}" type="sibTrans" cxnId="{5D679368-8DAF-4109-A593-0951324FBCDA}">
      <dgm:prSet/>
      <dgm:spPr/>
      <dgm:t>
        <a:bodyPr/>
        <a:lstStyle/>
        <a:p>
          <a:endParaRPr lang="en-US"/>
        </a:p>
      </dgm:t>
    </dgm:pt>
    <dgm:pt modelId="{C720A44F-C759-42CE-BA95-090B53BEF262}">
      <dgm:prSet/>
      <dgm:spPr/>
      <dgm:t>
        <a:bodyPr/>
        <a:lstStyle/>
        <a:p>
          <a:r>
            <a:rPr lang="pl-PL" dirty="0"/>
            <a:t>Metoda sterowania jasnością LED poprzez szybkie włączanie </a:t>
          </a:r>
          <a:br>
            <a:rPr lang="pl-PL" dirty="0"/>
          </a:br>
          <a:r>
            <a:rPr lang="pl-PL" dirty="0"/>
            <a:t>i wyłączanie zasilania (oszukiwanie ludzkiego oka).</a:t>
          </a:r>
          <a:endParaRPr lang="en-US" dirty="0"/>
        </a:p>
      </dgm:t>
    </dgm:pt>
    <dgm:pt modelId="{D8CD138F-AFA3-4771-86BB-07CBF01E7F5C}" type="parTrans" cxnId="{6AA49922-4CE4-4C72-8330-1C8AEDE847C9}">
      <dgm:prSet/>
      <dgm:spPr/>
      <dgm:t>
        <a:bodyPr/>
        <a:lstStyle/>
        <a:p>
          <a:endParaRPr lang="en-US"/>
        </a:p>
      </dgm:t>
    </dgm:pt>
    <dgm:pt modelId="{9DB1149C-3668-4170-95F0-BD4A3DC0EBB6}" type="sibTrans" cxnId="{6AA49922-4CE4-4C72-8330-1C8AEDE847C9}">
      <dgm:prSet/>
      <dgm:spPr/>
      <dgm:t>
        <a:bodyPr/>
        <a:lstStyle/>
        <a:p>
          <a:endParaRPr lang="en-US"/>
        </a:p>
      </dgm:t>
    </dgm:pt>
    <dgm:pt modelId="{E08073F4-A2D8-41C7-AF2C-8D7CB3C7F803}" type="pres">
      <dgm:prSet presAssocID="{37BCE6B5-B8BE-412A-8081-78EE836E7F5D}" presName="linear" presStyleCnt="0">
        <dgm:presLayoutVars>
          <dgm:dir/>
          <dgm:animLvl val="lvl"/>
          <dgm:resizeHandles val="exact"/>
        </dgm:presLayoutVars>
      </dgm:prSet>
      <dgm:spPr/>
    </dgm:pt>
    <dgm:pt modelId="{0F4975F7-3516-4C84-9A4B-33BC054B96EC}" type="pres">
      <dgm:prSet presAssocID="{DA168C4C-7DE0-475A-9986-B1D4FECC0319}" presName="parentLin" presStyleCnt="0"/>
      <dgm:spPr/>
    </dgm:pt>
    <dgm:pt modelId="{91D24A92-5187-427A-89EF-F950C2932C22}" type="pres">
      <dgm:prSet presAssocID="{DA168C4C-7DE0-475A-9986-B1D4FECC0319}" presName="parentLeftMargin" presStyleLbl="node1" presStyleIdx="0" presStyleCnt="2"/>
      <dgm:spPr/>
    </dgm:pt>
    <dgm:pt modelId="{DDE46F35-1C7D-4F63-B355-8A49408827EE}" type="pres">
      <dgm:prSet presAssocID="{DA168C4C-7DE0-475A-9986-B1D4FECC031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20FAFD2-6FBC-4ADA-94D8-4CE084D2CCF9}" type="pres">
      <dgm:prSet presAssocID="{DA168C4C-7DE0-475A-9986-B1D4FECC0319}" presName="negativeSpace" presStyleCnt="0"/>
      <dgm:spPr/>
    </dgm:pt>
    <dgm:pt modelId="{936886A3-6761-46E1-8694-4B761F14AC5E}" type="pres">
      <dgm:prSet presAssocID="{DA168C4C-7DE0-475A-9986-B1D4FECC0319}" presName="childText" presStyleLbl="conFgAcc1" presStyleIdx="0" presStyleCnt="2">
        <dgm:presLayoutVars>
          <dgm:bulletEnabled val="1"/>
        </dgm:presLayoutVars>
      </dgm:prSet>
      <dgm:spPr/>
    </dgm:pt>
    <dgm:pt modelId="{250DA2AE-ADBE-4BB0-9CEA-E88D6D07B527}" type="pres">
      <dgm:prSet presAssocID="{B57D0F87-B304-4B2A-AE35-59A3ED34D433}" presName="spaceBetweenRectangles" presStyleCnt="0"/>
      <dgm:spPr/>
    </dgm:pt>
    <dgm:pt modelId="{BAC05A9D-0BC1-4446-A26C-DF8EFDB49B7F}" type="pres">
      <dgm:prSet presAssocID="{5E0D756F-413D-4582-9B59-F4BD2BFAB995}" presName="parentLin" presStyleCnt="0"/>
      <dgm:spPr/>
    </dgm:pt>
    <dgm:pt modelId="{44B96BD2-E74B-4E6B-B388-748CB1873C39}" type="pres">
      <dgm:prSet presAssocID="{5E0D756F-413D-4582-9B59-F4BD2BFAB995}" presName="parentLeftMargin" presStyleLbl="node1" presStyleIdx="0" presStyleCnt="2"/>
      <dgm:spPr/>
    </dgm:pt>
    <dgm:pt modelId="{2D04867F-594D-4E8D-8574-060C835C6666}" type="pres">
      <dgm:prSet presAssocID="{5E0D756F-413D-4582-9B59-F4BD2BFAB99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0BB5560-AB25-4A3C-82D7-3DC23DC34AAC}" type="pres">
      <dgm:prSet presAssocID="{5E0D756F-413D-4582-9B59-F4BD2BFAB995}" presName="negativeSpace" presStyleCnt="0"/>
      <dgm:spPr/>
    </dgm:pt>
    <dgm:pt modelId="{1B215D4A-E6E7-4C70-B43C-0A48FB15E92E}" type="pres">
      <dgm:prSet presAssocID="{5E0D756F-413D-4582-9B59-F4BD2BFAB99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AA49922-4CE4-4C72-8330-1C8AEDE847C9}" srcId="{5E0D756F-413D-4582-9B59-F4BD2BFAB995}" destId="{C720A44F-C759-42CE-BA95-090B53BEF262}" srcOrd="0" destOrd="0" parTransId="{D8CD138F-AFA3-4771-86BB-07CBF01E7F5C}" sibTransId="{9DB1149C-3668-4170-95F0-BD4A3DC0EBB6}"/>
    <dgm:cxn modelId="{CF632C23-3060-4196-83F4-DEB3B74EDBA3}" type="presOf" srcId="{DA168C4C-7DE0-475A-9986-B1D4FECC0319}" destId="{91D24A92-5187-427A-89EF-F950C2932C22}" srcOrd="0" destOrd="0" presId="urn:microsoft.com/office/officeart/2005/8/layout/list1"/>
    <dgm:cxn modelId="{9DD7EE27-F1BB-41EE-980E-3E919A095596}" srcId="{DA168C4C-7DE0-475A-9986-B1D4FECC0319}" destId="{B381FBEA-B7E6-4AF7-8666-5BB7F590E5B8}" srcOrd="0" destOrd="0" parTransId="{B9CD6DFA-CCFE-4B25-B9F5-115FCC42D567}" sibTransId="{91632DCE-FE5E-4904-BB89-FC925F0EDD56}"/>
    <dgm:cxn modelId="{01E87430-ECF1-466C-A370-00E200DBB1AE}" srcId="{37BCE6B5-B8BE-412A-8081-78EE836E7F5D}" destId="{DA168C4C-7DE0-475A-9986-B1D4FECC0319}" srcOrd="0" destOrd="0" parTransId="{A52EAF30-50AB-4CEA-9B08-F3E9BCB4912C}" sibTransId="{B57D0F87-B304-4B2A-AE35-59A3ED34D433}"/>
    <dgm:cxn modelId="{7073A93C-E9B1-4740-9FB6-3D19041A706F}" type="presOf" srcId="{B381FBEA-B7E6-4AF7-8666-5BB7F590E5B8}" destId="{936886A3-6761-46E1-8694-4B761F14AC5E}" srcOrd="0" destOrd="0" presId="urn:microsoft.com/office/officeart/2005/8/layout/list1"/>
    <dgm:cxn modelId="{5D679368-8DAF-4109-A593-0951324FBCDA}" srcId="{37BCE6B5-B8BE-412A-8081-78EE836E7F5D}" destId="{5E0D756F-413D-4582-9B59-F4BD2BFAB995}" srcOrd="1" destOrd="0" parTransId="{D96C5083-F0E9-47D7-8DBC-C0CEBE69E4D4}" sibTransId="{B5D4CC8D-DACF-430D-8254-3724AAA7FC6B}"/>
    <dgm:cxn modelId="{85CC756B-E76A-4D74-B809-BC529E749DFC}" type="presOf" srcId="{C720A44F-C759-42CE-BA95-090B53BEF262}" destId="{1B215D4A-E6E7-4C70-B43C-0A48FB15E92E}" srcOrd="0" destOrd="0" presId="urn:microsoft.com/office/officeart/2005/8/layout/list1"/>
    <dgm:cxn modelId="{B70B176C-442B-4147-9A09-EE320BFC0BD8}" type="presOf" srcId="{DA168C4C-7DE0-475A-9986-B1D4FECC0319}" destId="{DDE46F35-1C7D-4F63-B355-8A49408827EE}" srcOrd="1" destOrd="0" presId="urn:microsoft.com/office/officeart/2005/8/layout/list1"/>
    <dgm:cxn modelId="{A2D38986-AE4C-4124-818B-464395AFB422}" type="presOf" srcId="{5E0D756F-413D-4582-9B59-F4BD2BFAB995}" destId="{2D04867F-594D-4E8D-8574-060C835C6666}" srcOrd="1" destOrd="0" presId="urn:microsoft.com/office/officeart/2005/8/layout/list1"/>
    <dgm:cxn modelId="{2DEB82DC-81CB-4221-B88A-357400DD80AC}" type="presOf" srcId="{5E0D756F-413D-4582-9B59-F4BD2BFAB995}" destId="{44B96BD2-E74B-4E6B-B388-748CB1873C39}" srcOrd="0" destOrd="0" presId="urn:microsoft.com/office/officeart/2005/8/layout/list1"/>
    <dgm:cxn modelId="{D1DEEBE7-DF57-4BA3-8EF4-2404556B54D3}" type="presOf" srcId="{37BCE6B5-B8BE-412A-8081-78EE836E7F5D}" destId="{E08073F4-A2D8-41C7-AF2C-8D7CB3C7F803}" srcOrd="0" destOrd="0" presId="urn:microsoft.com/office/officeart/2005/8/layout/list1"/>
    <dgm:cxn modelId="{094C49BB-FE7E-4F3F-8AE9-8E3479752940}" type="presParOf" srcId="{E08073F4-A2D8-41C7-AF2C-8D7CB3C7F803}" destId="{0F4975F7-3516-4C84-9A4B-33BC054B96EC}" srcOrd="0" destOrd="0" presId="urn:microsoft.com/office/officeart/2005/8/layout/list1"/>
    <dgm:cxn modelId="{60C3A06D-0109-4DE4-9F3F-B86F9D3A2957}" type="presParOf" srcId="{0F4975F7-3516-4C84-9A4B-33BC054B96EC}" destId="{91D24A92-5187-427A-89EF-F950C2932C22}" srcOrd="0" destOrd="0" presId="urn:microsoft.com/office/officeart/2005/8/layout/list1"/>
    <dgm:cxn modelId="{00EA3FF6-6518-4ECF-8B3D-E3B26BD12580}" type="presParOf" srcId="{0F4975F7-3516-4C84-9A4B-33BC054B96EC}" destId="{DDE46F35-1C7D-4F63-B355-8A49408827EE}" srcOrd="1" destOrd="0" presId="urn:microsoft.com/office/officeart/2005/8/layout/list1"/>
    <dgm:cxn modelId="{5B1037B2-B596-44D8-BDDF-30FE7D75FC3F}" type="presParOf" srcId="{E08073F4-A2D8-41C7-AF2C-8D7CB3C7F803}" destId="{520FAFD2-6FBC-4ADA-94D8-4CE084D2CCF9}" srcOrd="1" destOrd="0" presId="urn:microsoft.com/office/officeart/2005/8/layout/list1"/>
    <dgm:cxn modelId="{A6D8CC20-4F28-401F-9B0A-BD8B9874BD0D}" type="presParOf" srcId="{E08073F4-A2D8-41C7-AF2C-8D7CB3C7F803}" destId="{936886A3-6761-46E1-8694-4B761F14AC5E}" srcOrd="2" destOrd="0" presId="urn:microsoft.com/office/officeart/2005/8/layout/list1"/>
    <dgm:cxn modelId="{DCEAEB24-14E8-406B-8349-42A1E55156C9}" type="presParOf" srcId="{E08073F4-A2D8-41C7-AF2C-8D7CB3C7F803}" destId="{250DA2AE-ADBE-4BB0-9CEA-E88D6D07B527}" srcOrd="3" destOrd="0" presId="urn:microsoft.com/office/officeart/2005/8/layout/list1"/>
    <dgm:cxn modelId="{18014CF2-36EE-4575-9A09-448B3ED3235F}" type="presParOf" srcId="{E08073F4-A2D8-41C7-AF2C-8D7CB3C7F803}" destId="{BAC05A9D-0BC1-4446-A26C-DF8EFDB49B7F}" srcOrd="4" destOrd="0" presId="urn:microsoft.com/office/officeart/2005/8/layout/list1"/>
    <dgm:cxn modelId="{2F998CB5-09B5-4157-8DF9-822C5C8FAF11}" type="presParOf" srcId="{BAC05A9D-0BC1-4446-A26C-DF8EFDB49B7F}" destId="{44B96BD2-E74B-4E6B-B388-748CB1873C39}" srcOrd="0" destOrd="0" presId="urn:microsoft.com/office/officeart/2005/8/layout/list1"/>
    <dgm:cxn modelId="{5B07BF5A-D4BB-4C6E-9C33-E415C2C40C8B}" type="presParOf" srcId="{BAC05A9D-0BC1-4446-A26C-DF8EFDB49B7F}" destId="{2D04867F-594D-4E8D-8574-060C835C6666}" srcOrd="1" destOrd="0" presId="urn:microsoft.com/office/officeart/2005/8/layout/list1"/>
    <dgm:cxn modelId="{D91D5F84-BC8E-46CC-AFEA-AFEDFE201932}" type="presParOf" srcId="{E08073F4-A2D8-41C7-AF2C-8D7CB3C7F803}" destId="{50BB5560-AB25-4A3C-82D7-3DC23DC34AAC}" srcOrd="5" destOrd="0" presId="urn:microsoft.com/office/officeart/2005/8/layout/list1"/>
    <dgm:cxn modelId="{9008726E-90AB-4924-AE97-462D3D38920D}" type="presParOf" srcId="{E08073F4-A2D8-41C7-AF2C-8D7CB3C7F803}" destId="{1B215D4A-E6E7-4C70-B43C-0A48FB15E92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886A3-6761-46E1-8694-4B761F14AC5E}">
      <dsp:nvSpPr>
        <dsp:cNvPr id="0" name=""/>
        <dsp:cNvSpPr/>
      </dsp:nvSpPr>
      <dsp:spPr>
        <a:xfrm>
          <a:off x="0" y="1143476"/>
          <a:ext cx="7008401" cy="170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930" tIns="499872" rIns="54393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400" kern="1200" dirty="0"/>
            <a:t>Protokół komunikacji cyfrowej, dzięki któremu </a:t>
          </a:r>
          <a:r>
            <a:rPr lang="pl-PL" sz="2400" kern="1200" dirty="0" err="1"/>
            <a:t>Arduino</a:t>
          </a:r>
          <a:r>
            <a:rPr lang="pl-PL" sz="2400" kern="1200" dirty="0"/>
            <a:t> "rozmawia" z czujnikiem światła za pomocą tylko dwóch kabli.</a:t>
          </a:r>
          <a:endParaRPr lang="en-US" sz="2400" kern="1200" dirty="0"/>
        </a:p>
      </dsp:txBody>
      <dsp:txXfrm>
        <a:off x="0" y="1143476"/>
        <a:ext cx="7008401" cy="1701000"/>
      </dsp:txXfrm>
    </dsp:sp>
    <dsp:sp modelId="{DDE46F35-1C7D-4F63-B355-8A49408827EE}">
      <dsp:nvSpPr>
        <dsp:cNvPr id="0" name=""/>
        <dsp:cNvSpPr/>
      </dsp:nvSpPr>
      <dsp:spPr>
        <a:xfrm>
          <a:off x="350420" y="789236"/>
          <a:ext cx="4905880" cy="70848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431" tIns="0" rIns="18543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b="1" kern="1200"/>
            <a:t>I2C (Inter-Integrated Circuit): </a:t>
          </a:r>
          <a:endParaRPr lang="en-US" sz="2400" kern="1200"/>
        </a:p>
      </dsp:txBody>
      <dsp:txXfrm>
        <a:off x="385005" y="823821"/>
        <a:ext cx="4836710" cy="639310"/>
      </dsp:txXfrm>
    </dsp:sp>
    <dsp:sp modelId="{1B215D4A-E6E7-4C70-B43C-0A48FB15E92E}">
      <dsp:nvSpPr>
        <dsp:cNvPr id="0" name=""/>
        <dsp:cNvSpPr/>
      </dsp:nvSpPr>
      <dsp:spPr>
        <a:xfrm>
          <a:off x="0" y="3328316"/>
          <a:ext cx="7008401" cy="204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930" tIns="499872" rIns="54393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400" kern="1200" dirty="0"/>
            <a:t>Metoda sterowania jasnością LED poprzez szybkie włączanie </a:t>
          </a:r>
          <a:br>
            <a:rPr lang="pl-PL" sz="2400" kern="1200" dirty="0"/>
          </a:br>
          <a:r>
            <a:rPr lang="pl-PL" sz="2400" kern="1200" dirty="0"/>
            <a:t>i wyłączanie zasilania (oszukiwanie ludzkiego oka).</a:t>
          </a:r>
          <a:endParaRPr lang="en-US" sz="2400" kern="1200" dirty="0"/>
        </a:p>
      </dsp:txBody>
      <dsp:txXfrm>
        <a:off x="0" y="3328316"/>
        <a:ext cx="7008401" cy="2041200"/>
      </dsp:txXfrm>
    </dsp:sp>
    <dsp:sp modelId="{2D04867F-594D-4E8D-8574-060C835C6666}">
      <dsp:nvSpPr>
        <dsp:cNvPr id="0" name=""/>
        <dsp:cNvSpPr/>
      </dsp:nvSpPr>
      <dsp:spPr>
        <a:xfrm>
          <a:off x="350420" y="2974076"/>
          <a:ext cx="4905880" cy="7084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431" tIns="0" rIns="18543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b="1" kern="1200"/>
            <a:t>PWM (Pulse Width Modulation):</a:t>
          </a:r>
          <a:r>
            <a:rPr lang="pl-PL" sz="2400" kern="1200"/>
            <a:t> </a:t>
          </a:r>
          <a:endParaRPr lang="en-US" sz="2400" kern="1200"/>
        </a:p>
      </dsp:txBody>
      <dsp:txXfrm>
        <a:off x="385005" y="3008661"/>
        <a:ext cx="4836710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EB594-8CCD-4C77-B24B-97D49687838A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02408-AAF2-4069-B09D-5824BCBFD7F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522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2408-AAF2-4069-B09D-5824BCBFD7F5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5958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2408-AAF2-4069-B09D-5824BCBFD7F5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186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2408-AAF2-4069-B09D-5824BCBFD7F5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7124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6326AA-E487-F1AB-E2FF-BB7B9EB82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753C564-CA47-E316-9EC9-9D29C5A8D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957435D-52F5-F345-5525-7407FBAC8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685350D-1B33-A9D8-918B-9DA534E1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2FF2DF2-4E34-11AB-E5CE-5FF24F8D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728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1C356D-B1A4-4153-2642-0EB42CFBA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9DAC85-2A91-3CB5-E9CD-96FC839C2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9A7CE5B-B5AF-A48C-D0B1-A681B718E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6615739-E86B-3F4E-F0E3-443596510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3569613-9CFA-F43D-B4CC-684707EE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095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3F1F61-A9B7-C111-FF1F-69766677A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7D5388F-4CBE-231B-2BB4-AC7B03C70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6BE31DD-861D-E033-6BC1-70135718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C1D02F3-21B0-E2F2-EF3F-90113D58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1758614-0F2B-D882-20F8-697D1B60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953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CA1C14-1FD4-8670-36F9-310CF023F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B88A74B-01F3-BB2D-784B-848605526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615BDCD-00B6-1AFF-0ABE-F8E503FAA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44FC21B-ADEB-ECEE-4EC9-A5BFE09E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D841A0C-9322-9D81-132F-F2C69CE4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73C1628-7341-CF26-88FD-251F1E26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85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53BEA-DF83-4E94-6991-CBB55DDF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749B31D-0EB0-4130-BEBA-594794371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EA1E35E-8D13-4685-A9A2-A706D9935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0A3D046-4634-00F9-5036-5442E8BA8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3C8AACB-E534-A544-1BE9-FF99D70F8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DF9DD33-8393-DEAE-3246-B6FED350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9A0ACDE4-95D9-271E-F987-B28648A2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E7927C4-BF32-75CA-C2B0-CEA9274B8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323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456D5A-E719-0F7F-11C3-ED6E9C17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50D8738-50EE-B35E-D553-4E599255D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B79DB70-AEF9-69B9-1C7F-4C310FC4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3A860B-104D-A647-0DDF-C7838B87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7501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0BB95E1-7A03-30B6-6E39-F3D49B2A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0103C2F5-AFAE-8246-6027-0FB97BA1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5FAB04E-5B3E-96A5-A7B6-54A877DC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611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81BD7F-724C-8BA7-A5E3-BFFDF90F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042DB8C-CC59-03B3-FFAC-B4123A957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E094947-4623-DDDB-5F6B-B34FB14F7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75B8F66-0E97-C96A-5B85-3D8AADDF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BF4D3F4-07E8-7D31-7FFC-E7BD0A5C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8057D69-A7A1-22DC-12AF-7B310CEF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4835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8F6D0F-8796-D66D-2CA7-7B212E54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2315E8DD-DD60-2DFC-85D7-E00274D064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84CF4EB-76C3-83C7-3F0C-4652D939D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9F40ED8-05B3-A36A-2F56-CEA3C54E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CE0A99E-DC64-EA65-D079-E1CD56CC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9725CA0-1322-089C-D001-8C53CE98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5467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081C54-42DF-6870-3F94-AF8C4D28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FA00541-9F8A-E438-7658-ED21A6B1A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44995AB-F537-F183-F502-ECC7120D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773772-1BB0-6E90-0324-C1531C8A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F87C5AA-AFE3-3EA0-D5A5-D0AD481D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431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50ABFE8D-5621-D231-1C2E-68ABD94DF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9BC145-E437-F0E4-B69D-AE63C2641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3B34495-13AC-6331-315B-3DC35FF06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E5305E-2213-CF86-797B-325D6004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D0B25AE-EDCC-8AA7-B45A-6356BB23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692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AD25F46-5A28-9D2C-A2AF-F037B85F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AB8AD34-BDA9-52F2-C24E-E7CCAB756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4237825-7983-2000-18A6-4AB2EB150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64976-E956-44E3-B4B7-573E0C14A878}" type="datetimeFigureOut">
              <a:rPr lang="pl-PL" smtClean="0"/>
              <a:t>09.12.2025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A38A10F-5989-F4DD-9E02-D1CEC7997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DA4CA3-188F-CD31-E0B3-A7677F778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582F2-1AAA-4F28-854B-86DB6942F22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918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4" descr="Odbicie światła w obiektywie">
            <a:extLst>
              <a:ext uri="{FF2B5EF4-FFF2-40B4-BE49-F238E27FC236}">
                <a16:creationId xmlns:a16="http://schemas.microsoft.com/office/drawing/2014/main" id="{D9F43511-FF1B-82C3-7BAC-B6E71B9810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151" b="1257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05092038-62DF-0D97-4BDC-7D2985B1B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Lampka Led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603E505-C763-BBAC-CE1D-BCAC68245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System oświetlenia sterowany ruchem i natężeniem światła.</a:t>
            </a:r>
          </a:p>
        </p:txBody>
      </p:sp>
    </p:spTree>
    <p:extLst>
      <p:ext uri="{BB962C8B-B14F-4D97-AF65-F5344CB8AC3E}">
        <p14:creationId xmlns:p14="http://schemas.microsoft.com/office/powerpoint/2010/main" val="93642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B65C0385-5E30-4D2E-AF9F-4639659D3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 descr="Obraz zawierający oświetlenie, żarówka, Oprawa, elektryczność&#10;&#10;Zawartość wygenerowana przez AI może być niepoprawna.">
            <a:extLst>
              <a:ext uri="{FF2B5EF4-FFF2-40B4-BE49-F238E27FC236}">
                <a16:creationId xmlns:a16="http://schemas.microsoft.com/office/drawing/2014/main" id="{81378F78-B79E-18D3-32C3-158A4F5F5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8" r="5580"/>
          <a:stretch>
            <a:fillRect/>
          </a:stretch>
        </p:blipFill>
        <p:spPr>
          <a:xfrm>
            <a:off x="20" y="1666568"/>
            <a:ext cx="6106195" cy="5191432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335820B-3A29-42C5-AA8D-10ECA43CD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3F2DEA0-C2E9-9EC7-01C4-AEA2A500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52766"/>
            <a:ext cx="10591999" cy="1023584"/>
          </a:xfrm>
        </p:spPr>
        <p:txBody>
          <a:bodyPr>
            <a:normAutofit/>
          </a:bodyPr>
          <a:lstStyle/>
          <a:p>
            <a:r>
              <a:rPr lang="pl-PL" dirty="0"/>
              <a:t>Cel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8F0BDDD-A445-0F43-08D7-A480AD4DA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8" y="2249766"/>
            <a:ext cx="4937488" cy="4070303"/>
          </a:xfrm>
        </p:spPr>
        <p:txBody>
          <a:bodyPr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l-PL" sz="2400" dirty="0"/>
              <a:t>SYSTEM OŚWIETLENIA STEROWANY RUCHEM I NATĘŻENIEM ŚWIATŁA</a:t>
            </a:r>
          </a:p>
          <a:p>
            <a:pPr marL="0" indent="0" algn="ctr">
              <a:spcBef>
                <a:spcPts val="0"/>
              </a:spcBef>
              <a:buNone/>
            </a:pPr>
            <a:endParaRPr lang="pl-PL" sz="2000" dirty="0"/>
          </a:p>
          <a:p>
            <a:pPr>
              <a:spcBef>
                <a:spcPts val="0"/>
              </a:spcBef>
            </a:pPr>
            <a:r>
              <a:rPr lang="pl-PL" sz="2000" u="sng" dirty="0"/>
              <a:t>Automatyzacja</a:t>
            </a:r>
            <a:r>
              <a:rPr lang="pl-PL" sz="2000" dirty="0"/>
              <a:t>: </a:t>
            </a:r>
          </a:p>
          <a:p>
            <a:pPr marL="358775" indent="-176213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</a:pPr>
            <a:r>
              <a:rPr lang="pl-PL" sz="2000" dirty="0">
                <a:solidFill>
                  <a:srgbClr val="0070C0"/>
                </a:solidFill>
              </a:rPr>
              <a:t>lampka włącza się sama, gdy wchodzisz do pokoju</a:t>
            </a:r>
          </a:p>
          <a:p>
            <a:pPr>
              <a:spcBef>
                <a:spcPts val="0"/>
              </a:spcBef>
            </a:pPr>
            <a:r>
              <a:rPr lang="pl-PL" sz="2000" dirty="0"/>
              <a:t>Oszczędność energii: </a:t>
            </a:r>
          </a:p>
          <a:p>
            <a:pPr marL="358775" indent="-176213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</a:pPr>
            <a:r>
              <a:rPr lang="pl-PL" sz="2000" dirty="0">
                <a:solidFill>
                  <a:srgbClr val="0070C0"/>
                </a:solidFill>
              </a:rPr>
              <a:t>świeci tylko wtedy, gdy jest ciemno </a:t>
            </a:r>
            <a:br>
              <a:rPr lang="pl-PL" sz="2000" dirty="0">
                <a:solidFill>
                  <a:srgbClr val="0070C0"/>
                </a:solidFill>
              </a:rPr>
            </a:br>
            <a:r>
              <a:rPr lang="pl-PL" sz="2000" dirty="0">
                <a:solidFill>
                  <a:srgbClr val="0070C0"/>
                </a:solidFill>
              </a:rPr>
              <a:t>i wykryto ruch</a:t>
            </a:r>
          </a:p>
          <a:p>
            <a:pPr>
              <a:spcBef>
                <a:spcPts val="0"/>
              </a:spcBef>
            </a:pPr>
            <a:r>
              <a:rPr lang="pl-PL" sz="2000" dirty="0"/>
              <a:t>Personalizacja: </a:t>
            </a:r>
          </a:p>
          <a:p>
            <a:pPr marL="358775" indent="-176213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</a:pPr>
            <a:r>
              <a:rPr lang="pl-PL" sz="2000" dirty="0">
                <a:solidFill>
                  <a:srgbClr val="0070C0"/>
                </a:solidFill>
              </a:rPr>
              <a:t>możliwość regulacji jasności pokrętłem</a:t>
            </a:r>
          </a:p>
        </p:txBody>
      </p:sp>
    </p:spTree>
    <p:extLst>
      <p:ext uri="{BB962C8B-B14F-4D97-AF65-F5344CB8AC3E}">
        <p14:creationId xmlns:p14="http://schemas.microsoft.com/office/powerpoint/2010/main" val="15103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23FAC88-CC20-C7A6-8377-DF5C4480E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l-PL" dirty="0"/>
              <a:t>Użyte Komponenty (Hardware)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41A0B3-F857-CAEC-727E-4299A83FF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" y="2423160"/>
            <a:ext cx="5852160" cy="4175760"/>
          </a:xfrm>
        </p:spPr>
        <p:txBody>
          <a:bodyPr anchor="ctr">
            <a:normAutofit lnSpcReduction="10000"/>
          </a:bodyPr>
          <a:lstStyle/>
          <a:p>
            <a:r>
              <a:rPr lang="pl-PL" sz="2400" b="1" u="sng" dirty="0"/>
              <a:t>Mózg</a:t>
            </a:r>
            <a:r>
              <a:rPr lang="pl-PL" sz="2400" b="1" dirty="0"/>
              <a:t>:</a:t>
            </a:r>
            <a:r>
              <a:rPr lang="pl-PL" sz="2400" dirty="0"/>
              <a:t> </a:t>
            </a:r>
            <a:r>
              <a:rPr lang="pl-PL" sz="2400" dirty="0" err="1">
                <a:solidFill>
                  <a:srgbClr val="0070C0"/>
                </a:solidFill>
              </a:rPr>
              <a:t>Jolly</a:t>
            </a:r>
            <a:r>
              <a:rPr lang="pl-PL" sz="2400" dirty="0">
                <a:solidFill>
                  <a:srgbClr val="0070C0"/>
                </a:solidFill>
              </a:rPr>
              <a:t> </a:t>
            </a:r>
            <a:r>
              <a:rPr lang="pl-PL" sz="2400" dirty="0" err="1">
                <a:solidFill>
                  <a:srgbClr val="0070C0"/>
                </a:solidFill>
              </a:rPr>
              <a:t>Dev</a:t>
            </a:r>
            <a:r>
              <a:rPr lang="pl-PL" sz="2400" dirty="0">
                <a:solidFill>
                  <a:srgbClr val="0070C0"/>
                </a:solidFill>
              </a:rPr>
              <a:t> (kompatybilny z </a:t>
            </a:r>
            <a:r>
              <a:rPr lang="pl-PL" sz="2400" dirty="0" err="1">
                <a:solidFill>
                  <a:srgbClr val="0070C0"/>
                </a:solidFill>
              </a:rPr>
              <a:t>Arduino</a:t>
            </a:r>
            <a:r>
              <a:rPr lang="pl-PL" sz="2400" dirty="0">
                <a:solidFill>
                  <a:srgbClr val="0070C0"/>
                </a:solidFill>
              </a:rPr>
              <a:t> Uno R3) – steruje całym układem</a:t>
            </a:r>
          </a:p>
          <a:p>
            <a:r>
              <a:rPr lang="pl-PL" sz="2400" b="1" u="sng" dirty="0"/>
              <a:t>Czujniki</a:t>
            </a:r>
            <a:r>
              <a:rPr lang="pl-PL" sz="2400" dirty="0"/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dirty="0">
                <a:solidFill>
                  <a:srgbClr val="0070C0"/>
                </a:solidFill>
              </a:rPr>
              <a:t>Czujnik ruchu PIR (HC-SR501) – wykrywa obecność człowieka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dirty="0">
                <a:solidFill>
                  <a:srgbClr val="0070C0"/>
                </a:solidFill>
              </a:rPr>
              <a:t>Czujnik światła (BH1750) – precyzyjny pomiar luksów (komunikacja I2C)</a:t>
            </a:r>
          </a:p>
          <a:p>
            <a:pPr marL="266700" indent="-266700"/>
            <a:r>
              <a:rPr lang="pl-PL" sz="2400" b="1" u="sng" dirty="0"/>
              <a:t>Sterowanie</a:t>
            </a:r>
            <a:r>
              <a:rPr lang="pl-PL" sz="2400" dirty="0"/>
              <a:t>: </a:t>
            </a:r>
            <a:r>
              <a:rPr lang="pl-PL" sz="2400" dirty="0">
                <a:solidFill>
                  <a:srgbClr val="0070C0"/>
                </a:solidFill>
              </a:rPr>
              <a:t>Tranzystor N-MOSFET (IRLZ44N) – włącza i wyłącza prąd dla taśmy LED</a:t>
            </a:r>
          </a:p>
          <a:p>
            <a:r>
              <a:rPr lang="pl-PL" sz="2400" b="1" u="sng" dirty="0"/>
              <a:t>Interfejs</a:t>
            </a:r>
            <a:r>
              <a:rPr lang="pl-PL" sz="2400" b="1" dirty="0"/>
              <a:t>:</a:t>
            </a:r>
            <a:r>
              <a:rPr lang="pl-PL" sz="2400" dirty="0"/>
              <a:t> </a:t>
            </a:r>
            <a:r>
              <a:rPr lang="pl-PL" sz="2400" dirty="0">
                <a:solidFill>
                  <a:srgbClr val="0070C0"/>
                </a:solidFill>
              </a:rPr>
              <a:t>Potencjometr – do ustawiania jasności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B4EB069-26ED-55EA-8FBC-756181577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8" r="1539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05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8553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 descr="Obraz zawierający tekst, diagram, Plan, linia&#10;&#10;Zawartość wygenerowana przez AI może być niepoprawna.">
            <a:extLst>
              <a:ext uri="{FF2B5EF4-FFF2-40B4-BE49-F238E27FC236}">
                <a16:creationId xmlns:a16="http://schemas.microsoft.com/office/drawing/2014/main" id="{D4C85014-31B4-0F8B-5098-5099E33CB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69965" y="278847"/>
            <a:ext cx="8964002" cy="6297213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751E4FB-AB7B-1965-6EA2-DE0FC454C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470660"/>
            <a:ext cx="3665220" cy="3312979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Analiza </a:t>
            </a:r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Schematu</a:t>
            </a: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KiCad</a:t>
            </a: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20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3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173F71AC-8232-A1E5-0DED-4847F8DE62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15"/>
          <a:stretch>
            <a:fillRect/>
          </a:stretch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29BC739B-FEF7-3F9F-27A3-47AD1669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3230" y="4251960"/>
            <a:ext cx="5109210" cy="16904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Jak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działa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Program? (Software)</a:t>
            </a:r>
          </a:p>
        </p:txBody>
      </p:sp>
      <p:pic>
        <p:nvPicPr>
          <p:cNvPr id="7" name="Obraz 6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86F67C4D-1215-2B88-B26B-1073437D10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814"/>
          <a:stretch>
            <a:fillRect/>
          </a:stretch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307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5F5466-DE32-F4BC-A784-2ED401EEB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803310"/>
            <a:ext cx="3220329" cy="2027227"/>
          </a:xfrm>
        </p:spPr>
        <p:txBody>
          <a:bodyPr anchor="t"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Kluczowe technologie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9A1969D-05D7-145C-341D-3FED8A9259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437286"/>
              </p:ext>
            </p:extLst>
          </p:nvPr>
        </p:nvGraphicFramePr>
        <p:xfrm>
          <a:off x="5093947" y="295835"/>
          <a:ext cx="7008401" cy="615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493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 descr="Obraz zawierający diagram, zrzut ekranu, Plan, Rysunek techniczny">
            <a:extLst>
              <a:ext uri="{FF2B5EF4-FFF2-40B4-BE49-F238E27FC236}">
                <a16:creationId xmlns:a16="http://schemas.microsoft.com/office/drawing/2014/main" id="{859DDA16-53E3-4FC8-AF24-A8286168E9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6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8BE7E26-6974-5B6C-E915-11C09BDE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57505"/>
            <a:ext cx="4203190" cy="1899912"/>
          </a:xfrm>
        </p:spPr>
        <p:txBody>
          <a:bodyPr>
            <a:noAutofit/>
          </a:bodyPr>
          <a:lstStyle/>
          <a:p>
            <a:r>
              <a:rPr lang="pl-PL" dirty="0"/>
              <a:t>Plany rozwojowe (Projekt 2.0)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5F3C047-DCA3-4915-16A3-C22B2E5B1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4789930" cy="3742762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pl-PL" sz="2400" b="1" dirty="0"/>
              <a:t>Wi-Fi:</a:t>
            </a:r>
            <a:r>
              <a:rPr lang="pl-PL" sz="2400" dirty="0"/>
              <a:t> </a:t>
            </a:r>
            <a:r>
              <a:rPr lang="pl-PL" sz="2400" dirty="0">
                <a:solidFill>
                  <a:srgbClr val="0070C0"/>
                </a:solidFill>
              </a:rPr>
              <a:t>Wykorzystanie modułu </a:t>
            </a:r>
            <a:r>
              <a:rPr lang="pl-PL" sz="2400" dirty="0" err="1">
                <a:solidFill>
                  <a:srgbClr val="0070C0"/>
                </a:solidFill>
              </a:rPr>
              <a:t>Jolly</a:t>
            </a:r>
            <a:r>
              <a:rPr lang="pl-PL" sz="2400" dirty="0">
                <a:solidFill>
                  <a:srgbClr val="0070C0"/>
                </a:solidFill>
              </a:rPr>
              <a:t> </a:t>
            </a:r>
            <a:r>
              <a:rPr lang="pl-PL" sz="2400" dirty="0" err="1">
                <a:solidFill>
                  <a:srgbClr val="0070C0"/>
                </a:solidFill>
              </a:rPr>
              <a:t>Dev</a:t>
            </a:r>
            <a:r>
              <a:rPr lang="pl-PL" sz="2400" dirty="0">
                <a:solidFill>
                  <a:srgbClr val="0070C0"/>
                </a:solidFill>
              </a:rPr>
              <a:t> do sterowania lampką </a:t>
            </a:r>
            <a:br>
              <a:rPr lang="pl-PL" sz="2400" dirty="0">
                <a:solidFill>
                  <a:srgbClr val="0070C0"/>
                </a:solidFill>
              </a:rPr>
            </a:br>
            <a:r>
              <a:rPr lang="pl-PL" sz="2400" dirty="0">
                <a:solidFill>
                  <a:srgbClr val="0070C0"/>
                </a:solidFill>
              </a:rPr>
              <a:t>z telefonu (aplikacja webowa).</a:t>
            </a:r>
          </a:p>
          <a:p>
            <a:pPr>
              <a:lnSpc>
                <a:spcPct val="120000"/>
              </a:lnSpc>
            </a:pPr>
            <a:r>
              <a:rPr lang="pl-PL" sz="2400" b="1" dirty="0"/>
              <a:t>Obudowa:</a:t>
            </a:r>
            <a:r>
              <a:rPr lang="pl-PL" sz="2400" dirty="0"/>
              <a:t> </a:t>
            </a:r>
            <a:r>
              <a:rPr lang="pl-PL" sz="2400" dirty="0">
                <a:solidFill>
                  <a:srgbClr val="0070C0"/>
                </a:solidFill>
              </a:rPr>
              <a:t>Zaprojektowanie </a:t>
            </a:r>
            <a:br>
              <a:rPr lang="pl-PL" sz="2400" dirty="0">
                <a:solidFill>
                  <a:srgbClr val="0070C0"/>
                </a:solidFill>
              </a:rPr>
            </a:br>
            <a:r>
              <a:rPr lang="pl-PL" sz="2400" dirty="0">
                <a:solidFill>
                  <a:srgbClr val="0070C0"/>
                </a:solidFill>
              </a:rPr>
              <a:t>i wydruk obudowy 3D dla elektroniki.</a:t>
            </a:r>
          </a:p>
          <a:p>
            <a:pPr>
              <a:lnSpc>
                <a:spcPct val="120000"/>
              </a:lnSpc>
            </a:pPr>
            <a:r>
              <a:rPr lang="pl-PL" sz="2400" b="1" dirty="0"/>
              <a:t>PCB:</a:t>
            </a:r>
            <a:r>
              <a:rPr lang="pl-PL" sz="2400" dirty="0"/>
              <a:t> </a:t>
            </a:r>
            <a:r>
              <a:rPr lang="pl-PL" sz="2400" dirty="0">
                <a:solidFill>
                  <a:srgbClr val="0070C0"/>
                </a:solidFill>
              </a:rPr>
              <a:t>Zamówienie profesjonalnej płytki drukowanej.</a:t>
            </a:r>
          </a:p>
        </p:txBody>
      </p:sp>
    </p:spTree>
    <p:extLst>
      <p:ext uri="{BB962C8B-B14F-4D97-AF65-F5344CB8AC3E}">
        <p14:creationId xmlns:p14="http://schemas.microsoft.com/office/powerpoint/2010/main" val="53634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D10BF66-4181-974F-049A-FCE8DE452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Dziękuję za uwagę</a:t>
            </a:r>
          </a:p>
        </p:txBody>
      </p:sp>
      <p:sp>
        <p:nvSpPr>
          <p:cNvPr id="39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1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43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0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223</Words>
  <Application>Microsoft Office PowerPoint</Application>
  <PresentationFormat>Panoramiczny</PresentationFormat>
  <Paragraphs>33</Paragraphs>
  <Slides>8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Motyw pakietu Office</vt:lpstr>
      <vt:lpstr>Lampka Led</vt:lpstr>
      <vt:lpstr>Cel Projektu</vt:lpstr>
      <vt:lpstr>Użyte Komponenty (Hardware)</vt:lpstr>
      <vt:lpstr>Analiza Schematu (KiCad)</vt:lpstr>
      <vt:lpstr>Jak działa Program? (Software)</vt:lpstr>
      <vt:lpstr>Kluczowe technologie</vt:lpstr>
      <vt:lpstr>Plany rozwojowe (Projekt 2.0)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Gucio the Pszczoła</dc:creator>
  <cp:lastModifiedBy>Gucio the Pszczoła</cp:lastModifiedBy>
  <cp:revision>2</cp:revision>
  <dcterms:created xsi:type="dcterms:W3CDTF">2025-12-09T12:01:33Z</dcterms:created>
  <dcterms:modified xsi:type="dcterms:W3CDTF">2025-12-09T14:27:33Z</dcterms:modified>
</cp:coreProperties>
</file>